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ivarajkarki/RAG-Workshop-Demo" TargetMode="Externa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a5da5a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389120"/>
            <a:ext cx="3200400" cy="228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🎉 Welcome to RAG Workshop!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ECC71"/>
                </a:solidFill>
              </a:defRPr>
            </a:pPr>
            <a:r>
              <a:t>Retrieval Augmented Generation for BCA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9FAD"/>
                </a:solidFill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✅ What is RAG &amp; why it matters    ✅ Chunking strategies</a:t>
            </a:r>
          </a:p>
          <a:p>
            <a:pPr algn="l"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✅ Vector databases &amp; retrieval    ✅ Evaluation metrics</a:t>
            </a:r>
          </a:p>
          <a:p>
            <a:pPr algn="l">
              <a:spcAft>
                <a:spcPts val="600"/>
              </a:spcAft>
              <a:defRPr sz="1700">
                <a:solidFill>
                  <a:srgbClr val="FFFFFF"/>
                </a:solidFill>
              </a:defRPr>
            </a:pPr>
            <a:r>
              <a:t>🚀 Build a working RAG system    🏆 Win prizes in 4 quizzes!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ECC71"/>
                </a:solidFill>
              </a:defRPr>
            </a:pPr>
            <a:r>
              <a:t>SECTION 1: ICE-BREAKER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⏱️ 0–10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📄 Mystery Challenge!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Instructions: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1. You have a sheet of paper (don't flip yet!)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2. Work in teams of 2-3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3. Answer the 10 questions on the front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4. You have 3 minutes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⏱️  GO!  [Start timer]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Now Flip the Paper!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Same 10 questions, but: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Information is organized differently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You have 2 minutes this time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⏱️  GO!  [Start timer]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Just Happened? 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Quick Poll: How many found Sheet B WAY easier? 🙋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What was different?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Sheet A: Unorganized paragraphs (hard to find info)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Sheet B: Organized with headers, metadata, sections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This is EXACTLY how RAG works!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Sheet A = AI without RAG (knowledge jumbled)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Sheet B = AI with RAG (organized, indexed, searchable)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You just experienced RAG at the intuitive level! 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ECC71"/>
                </a:solidFill>
              </a:defRPr>
            </a:pPr>
            <a:r>
              <a:t>SECTION 2: RAG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⏱️ 10–25 minutes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= Retrieval 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Retrieval (Search)  +  Augmented (Add Context)  +  Generation (LLM)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Simple Analogy: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Closed Book Exam → LLM without RAG (rely on memory only)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Open Book Exam → LLM with RAG (can reference materials!)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Why RAG?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🚫 Reduces hallucinations (LLM making up facts)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📅 Provides up-to-date information (not stuck at training cutoff)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📚 Enables domain-specific knowledge (your company docs!)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💰 Much cheaper than fine-tuning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Without RAG ❌  vs  With RAG ✅</a:t>
            </a:r>
          </a:p>
        </p:txBody>
      </p:sp>
      <p:pic>
        <p:nvPicPr>
          <p:cNvPr id="4" name="Picture 3" descr="rag_with_with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8504"/>
            <a:ext cx="10728655" cy="3649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RAG transforms generic, hallucinated answers into accurate, sourced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RAG Works — Step by Step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User asks: "What is our company's vacation policy?"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Step 1: 🔍 Search → Scan your HR documents</a:t>
            </a:r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Step 2: 📎 Retrieve → Find: "Employees get 20 days PTO..."</a:t>
            </a:r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Step 3: 📝 Augment → Add that context to LLM prompt</a:t>
            </a:r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Step 4: 🤖 Generate → LLM answers using THAT specific info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LLM: "According to your HR Manual (page 15),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   employees receive 20 paid time off days annually..."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✅ Accurate   ✅ Attributable (can cite sources!)   ✅ Up-to-date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Pipeline Architecture</a:t>
            </a:r>
          </a:p>
        </p:txBody>
      </p:sp>
      <p:pic>
        <p:nvPicPr>
          <p:cNvPr id="4" name="Picture 3" descr="rag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85225"/>
            <a:ext cx="10728655" cy="44361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Phase 1: Index once (offline) → Phase 2: Query every time (online). Use SAME embedding model for both!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Where is RAG Used? 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Why It Works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Customer Support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Chatbot answers from company docs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Accurate, consistent answers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Legal Research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Find relevant case law instantly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Cite specific precedents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Healthcare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Match symptoms to medical literature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Evidence-based responses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Education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Tutoring bot using course materials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Personalized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Software Docs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Code assistant using API documentation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Always up-to-date help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Enterprise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Search across all company knowledge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Find anything instantly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🔴 LIVE DEMO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ECC71"/>
                </a:solidFill>
              </a:defRPr>
            </a:pPr>
            <a:r>
              <a:t>Building the Simplest RAG — All in ~15 lines of Python! 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9FA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🎮 Quiz 1: RAG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┌─────────────────────────────────────┐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QUIZ 1: RAG BASICS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                             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Scan the QR Code to answer!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Time limit: 3 minutes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8 questions               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                             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🏆 Top 3 teams win prizes!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└─────────────────────────────────────┘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⏱️ GO! ⏱️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ECC71"/>
                </a:solidFill>
              </a:defRPr>
            </a:pPr>
            <a:r>
              <a:t>SECTION 3: CHUNKING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⏱️ 25–45 minutes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Chunking Matters 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Problem: LLMs have context limits! Can't process entire Wikipedia.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The Goldilocks Principle: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❌ Too Small (50 tokens):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"The company offers employees" → No useful info on its own!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❌ Too Large (entire document):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50-page document → Too much irrelevant info, wastes tokens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✅ Just Right (200-500 tokens):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"The company offers employees 20 days PTO annually..." → Complete thought! 🎯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Rule: Each chunk should contain a complete, self-contained idea.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 Chunking Strategies Compared</a:t>
            </a:r>
          </a:p>
        </p:txBody>
      </p:sp>
      <p:pic>
        <p:nvPicPr>
          <p:cNvPr id="4" name="Picture 3" descr="chunking_strategi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46134"/>
            <a:ext cx="10728655" cy="37143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Recursive Character Splitting ⭐ is the recommended default — best balance of structure and simplicity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Chunk Size Guidelines 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Document Type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Chunk Size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Overlap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General Text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200-500 tokens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20-50 tokens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Default choice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300-800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50-100 tokens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Respect function boundaries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Legal Docs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100-300 tokens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30-50 tokens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Precision critical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Chat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5-10 messages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1-2 messages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Conversational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Technical Docs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300-600 tokens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50-100 tokens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Include code + explanation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Chunk Overlap — Why It Matters</a:t>
            </a:r>
          </a:p>
        </p:txBody>
      </p:sp>
      <p:pic>
        <p:nvPicPr>
          <p:cNvPr id="4" name="Picture 3" descr="overla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85081"/>
            <a:ext cx="10728655" cy="4436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Typical Overlap: 10-20% of chunk size. Both chunks retain complete context at boundaries!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Metadata is Magic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Always add metadata to your chunks!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{  "content": "Employees receive 20 days PTO annually...",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"metadata": {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  "source": "HR_Manual_2024.pdf",  "page": 15,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  "section": "Benefits",  "last_updated": "2024-03-01",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  "department": "Human Resources",  "classification": "internal"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}  }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Why?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📎 Attribution: "According to HR Manual page 15..."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🔍 Filtering: "Show me only Engineering docs"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📅 Freshness: "Only documents from 2024"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🏢 Multi-tenancy: "Only Company A's data"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🔴 LIVE DEMO 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ECC71"/>
                </a:solidFill>
              </a:defRPr>
            </a:pPr>
            <a:r>
              <a:t>Chunking Strategies Showdown!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9FA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🎮 Quiz 2: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┌─────────────────────────────────────┐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QUIZ 2: CHUNKING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Scan the QR Code to answer!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Time limit: 4 minutes | 10 questions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🏆 Top 3 teams win prizes!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└─────────────────────────────────────┘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⏱️ GO! ⏱️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ECC71"/>
                </a:solidFill>
              </a:defRPr>
            </a:pPr>
            <a:r>
              <a:t>SECTION 4: VECTOR DB &amp;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⏱️ 45–65 minutes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Are Embeddings? 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Embeddings = Vector representation of meaning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"king"    → [0.2, 0.8, 0.1, 0.4, ...]  (768 dimensions)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"queen"   → [0.2, 0.7, 0.1, 0.5, ...]  ← Very similar!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"car"     → [0.9, 0.1, 0.7, 0.2, ...]  ← Very different!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Key Idea: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Similar meanings → Similar vectors (close in vector space)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Different meanings → Different vectors (far apart)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Think: GPS coordinates for meanings! 🗺️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In reality: 768-dimensional space (can't visualize!)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But concept is the same — similar things cluster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Visualizing Embedding Space</a:t>
            </a:r>
          </a:p>
        </p:txBody>
      </p:sp>
      <p:pic>
        <p:nvPicPr>
          <p:cNvPr id="4" name="Picture 3" descr="embeddings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018" y="1280160"/>
            <a:ext cx="849565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Similar concepts cluster together. Your query is matched to nearest neighbors in this vector 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Popular Vector Databases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92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Ease of Use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ChromaDB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Prototyping, Small-Medium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Easy ⭐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FAISS (Meta)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High-scale, Production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Pinecone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Cloud, Managed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Easy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Weaviate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Feature-rich, Hybrid 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Good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Similarity Metrics — How to Measure Closeness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1️⃣  Cosine Similarity ⭐ (Most Common)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• Measures angle between vectors | Range: -1 to 1 (1 = identical)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• Formula: cos(θ) = (A · B) / (||A|| × ||B||)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2️⃣  Euclidean Distance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• Measures straight-line distance | Range: 0 to ∞ (0 = identical)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• Formula: d = sqrt(Σ(Ai - Bi)²)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3️⃣  Dot Product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 • Measures magnitude AND direction | Fast to compute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For RAG: Use Cosine Similarity (default) 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 Retrieval Strategies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1️⃣  Cosine Similarity Search (Default) — Top-K most similar. 90% of use cases.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2️⃣  MMR (Maximal Marginal Relevance) — Balance relevance + diversity.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3️⃣  Similarity Threshold — Only return if similarity &gt; threshold (e.g., 0.7).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4️⃣  Metadata Filtering — Filter by category, date, source BEFORE search.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5️⃣  Hybrid Search — Combine vector search + keyword search (BM25).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6️⃣  Reranking — LLM refines results after initial retrieval. Most accurate but slower.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When to Use What? 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6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Your Need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General Q&amp;A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Cosine Similarity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Fast, simple, effective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Diverse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MMR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Avoids redundancy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Quality over quantity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Similarity Threshold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Only confident results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Category-specific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Metadata Filtering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Narrow scope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Exact terms important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Hybrid Search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Keywords + semantics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Maximum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Reranking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LLM-powered refinement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🔴 LIVE DEMO 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ECC71"/>
                </a:solidFill>
              </a:defRPr>
            </a:pPr>
            <a:r>
              <a:t>Vector DBs &amp; Retrieval Strategies! 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9FAD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🎮 Quiz 3: Vector DB &amp;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┌─────────────────────────────────────┐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QUIZ 3: VECTOR DB &amp; RETRIEVAL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Scan the QR Code to answer!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Time limit: 5 minutes | 12 questions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🏆 Top 3 teams win prizes!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└─────────────────────────────────────┘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⏱️ GO! ⏱️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ECC71"/>
                </a:solidFill>
              </a:defRPr>
            </a:pPr>
            <a:r>
              <a:t>SECTION 5: 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⏱️ 65–85 minutes | The MOST CRITICAL section!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Metrics Matter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You Can't Improve What You Don't Measure!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Building RAG without evaluation = Flying blind! ✈️😵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The Question: "Is my RAG system good?"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How to Answer: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Measure retrieval quality → Are we finding the right documents?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Measure generation quality → Are the answers good?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Track over time → Are we improving with each iteration?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⚠️ This section is CRITICAL for production!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Metrics separate hobby projects from production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RAG Evaluation Metrics Overview</a:t>
            </a:r>
          </a:p>
        </p:txBody>
      </p:sp>
      <p:pic>
        <p:nvPicPr>
          <p:cNvPr id="4" name="Picture 3" descr="metric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85225"/>
            <a:ext cx="10728655" cy="44361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Retrieval metrics check document finding. Generation metrics check answer quality. Need BOTH!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Retrieval Metric #1: Precision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Of all documents we retrieved, how many are actually relevant?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Precision = (Relevant Docs Retrieved) / (Total Docs Retrieved)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Example:  Retrieved 5 documents: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✅ Doc 1: Relevant    ❌ Doc 2: Not relevant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 ✅ Doc 3: Relevant    ❌ Doc 4: Not relevant    ❌ Doc 5: Not relevant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Precision = 2/5 = 0.4 = 40%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High Precision = Low false positives (not much junk in results)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Goal: Precision &gt; 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Retrieval Metric #2: Recall 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Of all relevant documents in the database, how many did we find?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Recall = (Relevant Docs Retrieved) / (Total Relevant Docs in DB)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Example: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Database has 10 relevant documents total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We retrieved 5 documents, 3 are relevant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Recall = 3/10 = 0.3 = 30%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High Recall = Found most relevant docs (didn't miss much)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Goal: Recall &gt; 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Precision vs Recall Trade-off ⚖️</a:t>
            </a:r>
          </a:p>
        </p:txBody>
      </p:sp>
      <p:pic>
        <p:nvPicPr>
          <p:cNvPr id="4" name="Picture 3" descr="precision_recall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11" y="1280160"/>
            <a:ext cx="964667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Legal/Medical → High Precision | Research → High Recall | RAG → Balance both! F1 = Harmonic Mean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Retrieval Metric #3: Mean Reciprocal Rank (MRR)</a:t>
            </a:r>
          </a:p>
        </p:txBody>
      </p:sp>
      <p:pic>
        <p:nvPicPr>
          <p:cNvPr id="4" name="Picture 3" descr="mr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64962"/>
            <a:ext cx="10728655" cy="42767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MRR = 1/(Rank of First Relevant Doc). Users look at top results first! Goal: MRR &gt; 0.7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Retrieval Metric #4: NDCG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NDCG = Normalized Discounted Cumulative Gain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The Idea: Relevant docs at TOP positions are worth more!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Results: [✅✅✅❌❌]  → NDCG = 0.95 ⭐ (relevant docs on top)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Results: [❌❌✅✅✅]  → NDCG = 0.68   (relevant docs at bottom)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Same number of relevant docs, but NDCG captures ranking quality!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Formula (Simplified):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DCG = Σ (relevance_i / log₂(position_i + 1))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NDCG = DCG / Ideal_DCG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NDCG = 1.0 → Perfect ranking  |  NDCG = 0.0 → Worst ranking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Goal: NDCG &gt; 0.8 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Retrieval Metric #5: Hit Rate ✅❌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Did we find AT LEAST ONE relevant document?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Hit Rate = 1 if any relevant doc found, else 0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Examples: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Results: [❌, ✅, ❌, ❌]  → Hit Rate = 1 ✅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Results: [❌, ❌, ❌, ❌]  → Hit Rate = 0 ❌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Binary metric — simplest of all: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1.0 = Success!  |  0.0 = Complete failure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Averaged over many queries to get overall success rate.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Goal: Hit Rate &gt; 0.95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Generation Metric #1: Faithfulness ⚠️ MOST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Does the answer only include information from retrieved documents?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High Faithfulness: ✅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Retrieved: "Company offers 20 days PTO"  →  Answer: "You get 20 days PTO"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Low Faithfulness (HALLUCINATION): ❌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Retrieved: "Company offers 20 days PTO"  →  Answer: "You get 30 days + free gym"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Why MOST CRITICAL?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⚠️ Wrong medical advice → Health risk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⚠️ Wrong legal info → Legal liability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⚠️ Wrong financial info → Financial loss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Goal: Faithfulness &gt; 0.9 — Non-negotiable for production!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Generation Metric #2: Answer Relevance 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Does the answer actually address the question asked?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High Relevance: ✅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Q: "What's the vacation policy?"  →  A: "Employees receive 20 days PTO..."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Low Relevance: ❌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Q: "What's the vacation policy?"  →  A: "The company was founded in 1990..."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Even if factually correct, it must address the actual question!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Goal: Answer Relevance &gt; 0.8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Generation Metric #3: Context Relevance 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Are the retrieved documents actually useful for answering?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High Context Relevance: ✅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Q: "Vacation policy?"  →  Retrieved: "Vacation Policy: 20 days..."  ← Perfect!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Low Context Relevance: ❌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Q: "Vacation policy?"  →  Retrieved: "Company founded in 1990..."  ← Useless!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Bridges retrieval and generation: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If retrieved context is bad, the answer will be bad too!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Goal: Context Relevance &gt; 0.7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Generation Metric #4: RAGAS Score</a:t>
            </a:r>
          </a:p>
        </p:txBody>
      </p:sp>
      <p:pic>
        <p:nvPicPr>
          <p:cNvPr id="4" name="Picture 3" descr="ragas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523" y="1280160"/>
            <a:ext cx="10068647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RAGAS = Harmonic Mean of Faithfulness + Answer Relevance + Context Relevance. Single number for quality!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📋 Metrics Cheat Sheet — Print This!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2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 anchor="ctr"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Accuracy of retrieved docs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0.7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Completeness of 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MRR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Position of first relevant doc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0.7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NDCG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Quality of ranking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Hit Rate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At least 1 relevant found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0.95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Faithfulness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 hallucinations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0.9 ⚠️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Answer Relevance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Answer is on-topic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0.8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Context Relevance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Retrieved docs are useful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RAGAS Score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Overall RAG quality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0-1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&gt; 0.7</a:t>
                      </a:r>
                    </a:p>
                  </a:txBody>
                  <a:tcPr anchor="ctr"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🔴 LIVE DEMO 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ECC71"/>
                </a:solidFill>
              </a:defRPr>
            </a:pPr>
            <a:r>
              <a:t>Evaluation Metrics in Action! 📊</a:t>
            </a:r>
            <a:br/>
            <a:r>
              <a:t>Precision, Recall, MRR, NDCG, Faithfulness, RAGAS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9FAD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Production RAG Architecture 🏭</a:t>
            </a:r>
          </a:p>
        </p:txBody>
      </p:sp>
      <p:pic>
        <p:nvPicPr>
          <p:cNvPr id="4" name="Picture 3" descr="produc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151" y="1280160"/>
            <a:ext cx="995539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API Gateway → RAG Service → Vector DB + LLM + Cache + Monitoring + Logging + Auth + CI/CD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🔴 LIVE DEMO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ECC71"/>
                </a:solidFill>
              </a:defRPr>
            </a:pPr>
            <a:r>
              <a:t>Complete Production RAG System! 🚀</a:t>
            </a:r>
            <a:br/>
            <a:r>
              <a:t>Config, logging, error handling, feedback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9FAD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🏆 FINAL QUIZ 4: The Ultimate Challenge!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┌─────────────────────────────────────┐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🏆 FINAL CHALLENGE - QUIZ 4! 🏆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                             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Kahoot Game PIN: ► 123456 ◄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Go to: kahoot.it     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                             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15 questions - Advanced level!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                                               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│     🎁 GRAND PRIZES for top 3! 🎁                    │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└─────────────────────────────────────┘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⏱️ LET'S GO! ⏱️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ECC71"/>
                </a:solidFill>
              </a:defRPr>
            </a:pPr>
            <a:r>
              <a:t>SECTION 6: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⏱️ 85–90 minutes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🎓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1. RAG Fundamentals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Retrieval + Augmented + Generation → Reduces hallucinations, enables domain knowledge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2. Chunking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RecursiveCharacterTextSplitter • 200-500 tokens • 10-20% overlap • Always add metadata!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3. Vector Databases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ChromaDB for prototyping • FAISS for production scale • Cosine similarity is default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4. Retrieval Strategies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Cosine for general use • MMR for diversity • Metadata filtering for precision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5. Evaluation is CRITICAL ⚠️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Measure both retrieval AND generation • Faithfulness prevents hallucinations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 RAGAS gives overall quality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🚀 Your RAG Mastery Roadmap</a:t>
            </a:r>
          </a:p>
        </p:txBody>
      </p:sp>
      <p:pic>
        <p:nvPicPr>
          <p:cNvPr id="4" name="Picture 3" descr="roadmap_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8504"/>
            <a:ext cx="10728655" cy="3649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Beginner (Today!) → Intermediate (1-2 weeks) → Advanced (1-2 months) → Expert (3-6 months)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📚 Resources for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3A4B"/>
                </a:solidFill>
              </a:defRPr>
            </a:pPr>
            <a:r>
              <a:t>📖 Documentation &amp; 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Official Docs: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LangChain — langchain.com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ChromaDB — trychroma.com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FAISS — faiss.ai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Gemini API — ai.google.dev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Courses: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DeepLearning.AI: "LangChain for LLM Apps"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Coursera: "Generative AI with LLMs"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71600"/>
            <a:ext cx="36576" cy="4572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📄 Papers &amp; Communities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Key Papers: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"Retrieval-Augmented Generation for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  Knowledge-Intensive NLP Tasks"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"RAGAS: Automated Evaluation of RAG"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Communities: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r/LocalLLaMA (Reddit)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LangChain Discord</a:t>
            </a:r>
          </a:p>
          <a:p>
            <a:pPr>
              <a:spcAft>
                <a:spcPts val="400"/>
              </a:spcAft>
              <a:defRPr sz="1500">
                <a:solidFill>
                  <a:srgbClr val="333333"/>
                </a:solidFill>
              </a:defRPr>
            </a:pPr>
            <a:r>
              <a:t>  • Hugging Face Forums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🏆 Take-Home Challenge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Build a RAG System for Your College!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Requirements: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Use course syllabus / college handbook as knowledge base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Implement chunking with metadata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Create a question-answering system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Evaluate with metrics (report Precision, Recall, RAGAS)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Submit code + evaluation report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Details: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📅 Deadline: 1 week from today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🎁 Prizes: Top 5 submissions win special prizes!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📧 Submission: Email to [your-email]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This will be great for your portfolio! 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You Did It!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In just 90 minutes, you: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✅ Learned RAG from scratch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✅ Built working systems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✅ Understood evaluation metrics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✅ Saw production patterns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▸ RAG is not magic — it's engineering!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Measure everything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Iterate based on data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Start simple, scale up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You now have the skills to build production-ready RAG systems!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🌟 Now go build something amazing! 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Thank You! 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4849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2ECC71"/>
                </a:solidFill>
              </a:defRPr>
            </a:pPr>
            <a:br>
              <a:rPr dirty="0"/>
            </a:br>
            <a:br>
              <a:rPr dirty="0"/>
            </a:br>
            <a:r>
              <a:rPr dirty="0"/>
              <a:t>All materials at </a:t>
            </a:r>
            <a:r>
              <a:rPr lang="en-US" sz="2200" dirty="0" err="1">
                <a:hlinkClick r:id="rId2"/>
              </a:rPr>
              <a:t>shivarajkarki</a:t>
            </a:r>
            <a:r>
              <a:rPr lang="en-US" sz="2200" dirty="0">
                <a:hlinkClick r:id="rId2"/>
              </a:rPr>
              <a:t>/RAG-Workshop-Demo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809FAD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2ECC71"/>
                </a:solidFill>
              </a:defRPr>
            </a:pPr>
            <a:r>
              <a:t>BONUS SLIDES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Extra material if time permits ⏱️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❌ Top 10 RAG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1.  No evaluation → Flying blind, can't improve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2.  Wrong chunk size → Too big or too small kills retrieval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3.  No metadata → Can't filter or cite sources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4.  Single retrieval strategy → Use MMR for diversity sometimes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5.  Ignoring faithfulness → Hallucinations sneak into production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6.  Not testing edge cases → System breaks on unusual queries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7.  No caching → Waste money re-computing embeddings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8.  Same embedding for everything → Different use cases need tuning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9.  No user feedback → Can't improve without real-world signal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10. Premature optimization → Start simple, add complexity later!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Learn from others' mistakes! 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B1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💰 Making RAG Affordable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Embedding Costs: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Use smaller models (text-embedding-004 is cheap!)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Cache embeddings (don't recompute!) • Batch embed documents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LLM Costs: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Use Gemini Flash for most queries (fast + cheap)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Use Pro only for complex questions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• Set max_tokens limit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Vector DB: ChromaDB (Free) • FAISS (Free) • Pinecone (Paid)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700" b="1">
                <a:solidFill>
                  <a:srgbClr val="1B3A4B"/>
                </a:solidFill>
              </a:defRPr>
            </a:pPr>
            <a:r>
              <a:t>★ Typical Cost (1M docs, 10K queries/day):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Embeddings: $10-50/mo | LLM: $100-500/mo | Vector DB: $0-100/mo</a:t>
            </a:r>
          </a:p>
          <a:p>
            <a:pPr>
              <a:spcAft>
                <a:spcPts val="500"/>
              </a:spcAft>
              <a:defRPr sz="1700">
                <a:solidFill>
                  <a:srgbClr val="333333"/>
                </a:solidFill>
              </a:defRPr>
            </a:pPr>
            <a:r>
              <a:t>  Total: ~$500/month for production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B2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📈 Scaling Strategies — Prototype to Production</a:t>
            </a:r>
          </a:p>
        </p:txBody>
      </p:sp>
      <p:pic>
        <p:nvPicPr>
          <p:cNvPr id="4" name="Picture 3" descr="scal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8504"/>
            <a:ext cx="10728655" cy="36496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172200"/>
            <a:ext cx="103628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Start small, scale as needed! Prototype ($0) → Small ($100-200) → Medium ($500-1K) → Large ($2-5K/mo)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B3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3505</Words>
  <Application>Microsoft Office PowerPoint</Application>
  <PresentationFormat>Widescreen</PresentationFormat>
  <Paragraphs>615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Shivaraj Karki</cp:lastModifiedBy>
  <cp:revision>2</cp:revision>
  <dcterms:created xsi:type="dcterms:W3CDTF">2013-01-27T09:14:16Z</dcterms:created>
  <dcterms:modified xsi:type="dcterms:W3CDTF">2026-06-10T01:51:41Z</dcterms:modified>
  <cp:category/>
</cp:coreProperties>
</file>